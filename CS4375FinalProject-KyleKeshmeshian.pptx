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5" r:id="rId6"/>
    <p:sldId id="277" r:id="rId7"/>
    <p:sldId id="278" r:id="rId8"/>
    <p:sldId id="279" r:id="rId9"/>
    <p:sldId id="280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A0C8B-7CC9-4486-91E4-79400F9A253A}" v="4" dt="2025-05-14T00:34:05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88851" autoAdjust="0"/>
  </p:normalViewPr>
  <p:slideViewPr>
    <p:cSldViewPr snapToGrid="0" snapToObjects="1">
      <p:cViewPr varScale="1">
        <p:scale>
          <a:sx n="59" d="100"/>
          <a:sy n="59" d="100"/>
        </p:scale>
        <p:origin x="8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Keshmeshian" userId="8ebf5271923163d1" providerId="LiveId" clId="{C71A0C8B-7CC9-4486-91E4-79400F9A253A}"/>
    <pc:docChg chg="custSel addSld delSld modSld">
      <pc:chgData name="Kyle Keshmeshian" userId="8ebf5271923163d1" providerId="LiveId" clId="{C71A0C8B-7CC9-4486-91E4-79400F9A253A}" dt="2025-05-14T00:34:41.321" v="14" actId="2696"/>
      <pc:docMkLst>
        <pc:docMk/>
      </pc:docMkLst>
      <pc:sldChg chg="addSp delSp modSp new del mod setBg setClrOvrMap">
        <pc:chgData name="Kyle Keshmeshian" userId="8ebf5271923163d1" providerId="LiveId" clId="{C71A0C8B-7CC9-4486-91E4-79400F9A253A}" dt="2025-05-14T00:34:41.321" v="14" actId="2696"/>
        <pc:sldMkLst>
          <pc:docMk/>
          <pc:sldMk cId="2474643111" sldId="281"/>
        </pc:sldMkLst>
        <pc:spChg chg="mod">
          <ac:chgData name="Kyle Keshmeshian" userId="8ebf5271923163d1" providerId="LiveId" clId="{C71A0C8B-7CC9-4486-91E4-79400F9A253A}" dt="2025-05-14T00:34:17.497" v="13" actId="26606"/>
          <ac:spMkLst>
            <pc:docMk/>
            <pc:sldMk cId="2474643111" sldId="281"/>
            <ac:spMk id="2" creationId="{A02E3844-0B03-8E0C-310D-72412B1EE159}"/>
          </ac:spMkLst>
        </pc:spChg>
        <pc:spChg chg="del">
          <ac:chgData name="Kyle Keshmeshian" userId="8ebf5271923163d1" providerId="LiveId" clId="{C71A0C8B-7CC9-4486-91E4-79400F9A253A}" dt="2025-05-14T00:33:23.452" v="1" actId="26606"/>
          <ac:spMkLst>
            <pc:docMk/>
            <pc:sldMk cId="2474643111" sldId="281"/>
            <ac:spMk id="3" creationId="{AC3E0AA1-C225-FDAC-3D8B-42838F51F9C0}"/>
          </ac:spMkLst>
        </pc:spChg>
        <pc:spChg chg="del mod">
          <ac:chgData name="Kyle Keshmeshian" userId="8ebf5271923163d1" providerId="LiveId" clId="{C71A0C8B-7CC9-4486-91E4-79400F9A253A}" dt="2025-05-14T00:34:05.433" v="6"/>
          <ac:spMkLst>
            <pc:docMk/>
            <pc:sldMk cId="2474643111" sldId="281"/>
            <ac:spMk id="4" creationId="{2738049E-AD69-5171-F3E8-C7CAA51F0B58}"/>
          </ac:spMkLst>
        </pc:spChg>
        <pc:spChg chg="add mod ord">
          <ac:chgData name="Kyle Keshmeshian" userId="8ebf5271923163d1" providerId="LiveId" clId="{C71A0C8B-7CC9-4486-91E4-79400F9A253A}" dt="2025-05-14T00:34:17.497" v="13" actId="26606"/>
          <ac:spMkLst>
            <pc:docMk/>
            <pc:sldMk cId="2474643111" sldId="281"/>
            <ac:spMk id="8" creationId="{85BD9A28-D470-C96A-B265-96297A212A18}"/>
          </ac:spMkLst>
        </pc:spChg>
        <pc:spChg chg="add del">
          <ac:chgData name="Kyle Keshmeshian" userId="8ebf5271923163d1" providerId="LiveId" clId="{C71A0C8B-7CC9-4486-91E4-79400F9A253A}" dt="2025-05-14T00:34:17.497" v="13" actId="26606"/>
          <ac:spMkLst>
            <pc:docMk/>
            <pc:sldMk cId="2474643111" sldId="281"/>
            <ac:spMk id="11" creationId="{8B2A8B43-E288-418B-8561-C979F7B9CC4B}"/>
          </ac:spMkLst>
        </pc:spChg>
        <pc:spChg chg="add del">
          <ac:chgData name="Kyle Keshmeshian" userId="8ebf5271923163d1" providerId="LiveId" clId="{C71A0C8B-7CC9-4486-91E4-79400F9A253A}" dt="2025-05-14T00:34:17.497" v="13" actId="26606"/>
          <ac:spMkLst>
            <pc:docMk/>
            <pc:sldMk cId="2474643111" sldId="281"/>
            <ac:spMk id="15" creationId="{F40D237A-4D9F-42DC-BAEB-E07EDD74BE26}"/>
          </ac:spMkLst>
        </pc:spChg>
        <pc:spChg chg="add">
          <ac:chgData name="Kyle Keshmeshian" userId="8ebf5271923163d1" providerId="LiveId" clId="{C71A0C8B-7CC9-4486-91E4-79400F9A253A}" dt="2025-05-14T00:34:17.497" v="13" actId="26606"/>
          <ac:spMkLst>
            <pc:docMk/>
            <pc:sldMk cId="2474643111" sldId="281"/>
            <ac:spMk id="22" creationId="{6B48CC9C-E443-4619-A5F1-8D19F764D4DB}"/>
          </ac:spMkLst>
        </pc:spChg>
        <pc:picChg chg="add mod ord">
          <ac:chgData name="Kyle Keshmeshian" userId="8ebf5271923163d1" providerId="LiveId" clId="{C71A0C8B-7CC9-4486-91E4-79400F9A253A}" dt="2025-05-14T00:34:17.497" v="13" actId="26606"/>
          <ac:picMkLst>
            <pc:docMk/>
            <pc:sldMk cId="2474643111" sldId="281"/>
            <ac:picMk id="5" creationId="{86F25C4C-3B2B-57E5-E67D-9B42C5498BF1}"/>
          </ac:picMkLst>
        </pc:picChg>
        <pc:picChg chg="add mod">
          <ac:chgData name="Kyle Keshmeshian" userId="8ebf5271923163d1" providerId="LiveId" clId="{C71A0C8B-7CC9-4486-91E4-79400F9A253A}" dt="2025-05-14T00:34:17.497" v="13" actId="26606"/>
          <ac:picMkLst>
            <pc:docMk/>
            <pc:sldMk cId="2474643111" sldId="281"/>
            <ac:picMk id="6" creationId="{3A2F8642-AA98-E011-DAF6-2544FFEFB7B3}"/>
          </ac:picMkLst>
        </pc:picChg>
        <pc:picChg chg="add mod">
          <ac:chgData name="Kyle Keshmeshian" userId="8ebf5271923163d1" providerId="LiveId" clId="{C71A0C8B-7CC9-4486-91E4-79400F9A253A}" dt="2025-05-14T00:34:17.497" v="13" actId="26606"/>
          <ac:picMkLst>
            <pc:docMk/>
            <pc:sldMk cId="2474643111" sldId="281"/>
            <ac:picMk id="7" creationId="{AFD79E5A-7174-3419-5390-94D9DC9F7E31}"/>
          </ac:picMkLst>
        </pc:picChg>
        <pc:picChg chg="add del">
          <ac:chgData name="Kyle Keshmeshian" userId="8ebf5271923163d1" providerId="LiveId" clId="{C71A0C8B-7CC9-4486-91E4-79400F9A253A}" dt="2025-05-14T00:34:17.497" v="13" actId="26606"/>
          <ac:picMkLst>
            <pc:docMk/>
            <pc:sldMk cId="2474643111" sldId="281"/>
            <ac:picMk id="9" creationId="{A17F7527-5AC0-479A-B79F-9CF463410490}"/>
          </ac:picMkLst>
        </pc:picChg>
        <pc:picChg chg="add del">
          <ac:chgData name="Kyle Keshmeshian" userId="8ebf5271923163d1" providerId="LiveId" clId="{C71A0C8B-7CC9-4486-91E4-79400F9A253A}" dt="2025-05-14T00:34:17.497" v="13" actId="26606"/>
          <ac:picMkLst>
            <pc:docMk/>
            <pc:sldMk cId="2474643111" sldId="281"/>
            <ac:picMk id="13" creationId="{82584CD3-40DA-4BB8-B4B7-D8D04BB31B4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my name is Kyle Keshmeshian and welcome to my Predictive Health Monitoring of Engine Classification Using Machine Learning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“In this project, I developed a machine learning model to predict the health of aircraft engines.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Using the turbofan engine degradation simulations from the NASA C-MAPSS dataset, my goal was to classify each engine operating status as either </a:t>
            </a:r>
            <a:r>
              <a:rPr lang="en-US" i="1" dirty="0"/>
              <a:t>normal</a:t>
            </a:r>
            <a:r>
              <a:rPr lang="en-US" dirty="0"/>
              <a:t> or </a:t>
            </a:r>
            <a:r>
              <a:rPr lang="en-US" i="1" dirty="0"/>
              <a:t>at risk of failure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dataset contains over </a:t>
            </a:r>
            <a:r>
              <a:rPr lang="en-US" b="1" dirty="0"/>
              <a:t>20,000 flight cycles</a:t>
            </a:r>
            <a:r>
              <a:rPr lang="en-US" dirty="0"/>
              <a:t> with engines operating under various conditions.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cycle has 21 sensor readings, an engine ID, and 3 operational settings.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 there's no direct engine status label, I created my classification target based on </a:t>
            </a:r>
            <a:r>
              <a:rPr lang="en-US" b="1" dirty="0"/>
              <a:t>Remaining Useful Life</a:t>
            </a:r>
            <a:r>
              <a:rPr lang="en-US" dirty="0"/>
              <a:t>, labeling engines with RUL ≤ 30 as ‘At Risk.’</a:t>
            </a:r>
          </a:p>
          <a:p>
            <a:r>
              <a:rPr lang="en-US" dirty="0"/>
              <a:t>This project’s real-world significance is that accurately predicting engine failure can prevent dangerous situations and save lives.”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53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E293-ED72-F6A8-2B0D-15865B57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375B7-AB72-85E7-491F-C41A02D16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33FB7-601B-DB5B-842E-C731B114F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During exploratory data analysis, I removed features that were irrelevant, based on </a:t>
            </a:r>
            <a:r>
              <a:rPr lang="en-US" b="1" dirty="0"/>
              <a:t>correlation and variance</a:t>
            </a:r>
            <a:r>
              <a:rPr lang="en-US" dirty="0"/>
              <a:t>.</a:t>
            </a:r>
          </a:p>
          <a:p>
            <a:r>
              <a:rPr lang="en-US" dirty="0"/>
              <a:t>To prepare the data for modeling, I </a:t>
            </a:r>
            <a:r>
              <a:rPr lang="en-US" b="1" dirty="0"/>
              <a:t>standardized</a:t>
            </a:r>
            <a:r>
              <a:rPr lang="en-US" dirty="0"/>
              <a:t> all features so that they contribute equally in calculations. </a:t>
            </a:r>
          </a:p>
          <a:p>
            <a:r>
              <a:rPr lang="en-US" dirty="0"/>
              <a:t>Then I applied </a:t>
            </a:r>
            <a:r>
              <a:rPr lang="en-US" b="1" dirty="0"/>
              <a:t>t-SNE </a:t>
            </a:r>
            <a:r>
              <a:rPr lang="en-US" dirty="0"/>
              <a:t>to visualize class separation and while there’s some overlap, the clusters suggested the data was reasonably separable</a:t>
            </a:r>
          </a:p>
          <a:p>
            <a:pPr>
              <a:buNone/>
            </a:pPr>
            <a:r>
              <a:rPr lang="en-US" dirty="0"/>
              <a:t>As displayed in the TSNE plot, a challenge during exploratory analysis was the </a:t>
            </a:r>
            <a:r>
              <a:rPr lang="en-US" b="1" dirty="0"/>
              <a:t>class imbalance</a:t>
            </a:r>
            <a:r>
              <a:rPr lang="en-US" dirty="0"/>
              <a:t> — </a:t>
            </a:r>
          </a:p>
          <a:p>
            <a:pPr>
              <a:buNone/>
            </a:pPr>
            <a:r>
              <a:rPr lang="en-US" dirty="0"/>
              <a:t>only 15% of the data represents engines that are at risk, which could cause the model to overlook failures. </a:t>
            </a:r>
          </a:p>
          <a:p>
            <a:pPr>
              <a:buNone/>
            </a:pPr>
            <a:r>
              <a:rPr lang="en-US" dirty="0"/>
              <a:t>I addressed this later by adjusting evaluation metrics and model parameters.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A07A7-3135-0F38-07BB-06415C89A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56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6EC2-F7FA-3BA8-6C28-DF94EABE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8D688-D28E-3078-DDA6-53DEF0D45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F70BD-2984-2F62-5292-D7891DBB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“To improve model performance, I created </a:t>
            </a:r>
            <a:r>
              <a:rPr lang="en-US" b="1" dirty="0"/>
              <a:t>13 new features</a:t>
            </a:r>
            <a:r>
              <a:rPr lang="en-US" dirty="0"/>
              <a:t> using the original sensor data. </a:t>
            </a:r>
          </a:p>
          <a:p>
            <a:pPr>
              <a:buNone/>
            </a:pPr>
            <a:r>
              <a:rPr lang="en-US" dirty="0"/>
              <a:t>One of the features that stood out was the sensor_#_avg_of5 — this is a rolling average of sensor data over 5 cycles. It helps smooth out short-term noise and capture </a:t>
            </a:r>
            <a:r>
              <a:rPr lang="en-US" b="1" dirty="0"/>
              <a:t>long-term degradation trends</a:t>
            </a:r>
            <a:endParaRPr lang="en-US" dirty="0"/>
          </a:p>
          <a:p>
            <a:pPr>
              <a:buNone/>
            </a:pPr>
            <a:r>
              <a:rPr lang="en-US" dirty="0"/>
              <a:t>Next was </a:t>
            </a:r>
            <a:r>
              <a:rPr lang="en-US" dirty="0" err="1"/>
              <a:t>normalized_cycles</a:t>
            </a:r>
            <a:r>
              <a:rPr lang="en-US" dirty="0"/>
              <a:t> — this represents how far along each engine is in its lifespan. This feature was great at identifying patterns across engines of different lifespans.</a:t>
            </a:r>
          </a:p>
          <a:p>
            <a:pPr>
              <a:buNone/>
            </a:pPr>
            <a:r>
              <a:rPr lang="en-US" dirty="0"/>
              <a:t>I also experimented with features like </a:t>
            </a:r>
            <a:r>
              <a:rPr lang="en-US" dirty="0" err="1"/>
              <a:t>sensor_#_diff</a:t>
            </a:r>
            <a:r>
              <a:rPr lang="en-US" dirty="0"/>
              <a:t> that were meant to capture rate of change, but they added noise instead of value — so I ended up removing them.</a:t>
            </a:r>
          </a:p>
          <a:p>
            <a:r>
              <a:rPr lang="en-US" dirty="0"/>
              <a:t>Then Finally, I used </a:t>
            </a:r>
            <a:r>
              <a:rPr lang="en-US" b="1" dirty="0"/>
              <a:t>mutual information</a:t>
            </a:r>
            <a:r>
              <a:rPr lang="en-US" dirty="0"/>
              <a:t> to rank features and selected the top 15 to avoid overfitting. The strongest features were the ones that captured degradation trends, such as the rolling averages and normalized time.”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1F24E-9CA2-49C0-21BD-779E8A15F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32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09519-3D13-482D-6957-1649846B5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34D11-B08D-5B85-CC85-39DB20BDE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1EF23-E2CE-0967-7CA6-CE6FD9DE7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my model testing I tested Logistic Regression, </a:t>
            </a:r>
            <a:r>
              <a:rPr lang="en-US" dirty="0" err="1"/>
              <a:t>XGBoost</a:t>
            </a:r>
            <a:r>
              <a:rPr lang="en-US" dirty="0"/>
              <a:t>, Random Forest, and Multi-Layer Perceptron (MLP) models. While accuracy was high across all models, I focused on </a:t>
            </a:r>
            <a:r>
              <a:rPr lang="en-US" b="1" dirty="0"/>
              <a:t>Recall</a:t>
            </a:r>
            <a:r>
              <a:rPr lang="en-US" dirty="0"/>
              <a:t> as the main metric.</a:t>
            </a:r>
          </a:p>
          <a:p>
            <a:pPr>
              <a:buNone/>
            </a:pPr>
            <a:r>
              <a:rPr lang="en-US" dirty="0"/>
              <a:t>Because in this case, where an at-risk engine is incorrectly predicted as normal (or in other words, a </a:t>
            </a:r>
            <a:r>
              <a:rPr lang="en-US" b="1" dirty="0"/>
              <a:t>false negative) </a:t>
            </a:r>
            <a:r>
              <a:rPr lang="en-US" dirty="0"/>
              <a:t>could have serious consequences</a:t>
            </a:r>
          </a:p>
          <a:p>
            <a:pPr>
              <a:buNone/>
            </a:pPr>
            <a:r>
              <a:rPr lang="en-US" dirty="0"/>
              <a:t>Logistic Regression gave a strong baseline, and MLP performed decently, but the </a:t>
            </a:r>
            <a:r>
              <a:rPr lang="en-US" b="1" dirty="0"/>
              <a:t>tree-based models</a:t>
            </a:r>
            <a:r>
              <a:rPr lang="en-US" dirty="0"/>
              <a:t> were the most effective overall.</a:t>
            </a:r>
          </a:p>
          <a:p>
            <a:pPr>
              <a:buNone/>
            </a:pPr>
            <a:r>
              <a:rPr lang="en-US" dirty="0"/>
              <a:t>After tuning, </a:t>
            </a:r>
            <a:r>
              <a:rPr lang="en-US" b="1" dirty="0"/>
              <a:t>Random Forest</a:t>
            </a:r>
            <a:r>
              <a:rPr lang="en-US" dirty="0"/>
              <a:t> clearly stood out as a clear winner when It correctly identified over 96% of engines at risk of failure.</a:t>
            </a:r>
          </a:p>
          <a:p>
            <a:r>
              <a:rPr lang="en-US" dirty="0"/>
              <a:t>Based on both performance and consistency, Random Forest was the safest and most reliable model for this classification task.”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51EBA-3DD6-AA0A-5E71-848ACC850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442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15CD-2542-67B7-D782-6050EAE9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0E60F-4716-887B-29BB-7B85F7572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E0BB9-FD19-9635-A4EE-AB9A3284E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conclusion, This project successfully built a predictive model that can monitor engine health and flag engines at risk of failure.</a:t>
            </a:r>
          </a:p>
          <a:p>
            <a:pPr>
              <a:buNone/>
            </a:pPr>
            <a:r>
              <a:rPr lang="en-US" dirty="0"/>
              <a:t>After testing multiple models, </a:t>
            </a:r>
            <a:r>
              <a:rPr lang="en-US" b="1" dirty="0"/>
              <a:t>Random Forest</a:t>
            </a:r>
            <a:r>
              <a:rPr lang="en-US" dirty="0"/>
              <a:t> emerged as the best — with a recall of 0.961 and AUC of 0.995 — meaning it was both reliable and precise.</a:t>
            </a:r>
          </a:p>
          <a:p>
            <a:pPr>
              <a:buNone/>
            </a:pPr>
            <a:r>
              <a:rPr lang="en-US" dirty="0"/>
              <a:t>The biggest factor in this success was </a:t>
            </a:r>
            <a:r>
              <a:rPr lang="en-US" b="1" dirty="0"/>
              <a:t>feature engineering</a:t>
            </a:r>
            <a:r>
              <a:rPr lang="en-US" dirty="0"/>
              <a:t>. By normalizing cycles and applying rolling averages to the sensor data, I was able to highlight the slow degradation of engines and improve classification accuracy.</a:t>
            </a:r>
          </a:p>
          <a:p>
            <a:pPr>
              <a:buNone/>
            </a:pPr>
            <a:r>
              <a:rPr lang="en-US" dirty="0"/>
              <a:t>A key takeaway for me was the importance of </a:t>
            </a:r>
            <a:r>
              <a:rPr lang="en-US" b="1" dirty="0"/>
              <a:t>choosing the right evaluation metric</a:t>
            </a:r>
            <a:r>
              <a:rPr lang="en-US" dirty="0"/>
              <a:t>. While accuracy looked good, it was </a:t>
            </a:r>
            <a:r>
              <a:rPr lang="en-US" b="1" dirty="0"/>
              <a:t>recall</a:t>
            </a:r>
            <a:r>
              <a:rPr lang="en-US" dirty="0"/>
              <a:t> that mattered most.</a:t>
            </a:r>
          </a:p>
          <a:p>
            <a:pPr>
              <a:buNone/>
            </a:pPr>
            <a:r>
              <a:rPr lang="en-US" dirty="0" err="1"/>
              <a:t>Unfortunealy</a:t>
            </a:r>
            <a:r>
              <a:rPr lang="en-US" dirty="0"/>
              <a:t> the dataset came with its own limitations, for example, The sensor data lacked real-world labels, which made interpretation difficult. And the class imbalance can lead to biased models.</a:t>
            </a:r>
          </a:p>
          <a:p>
            <a:r>
              <a:rPr lang="en-US" dirty="0"/>
              <a:t>In the future, I’d love to see how this model performs </a:t>
            </a:r>
            <a:r>
              <a:rPr lang="en-US" b="1" dirty="0"/>
              <a:t>labeled sensor data in real time</a:t>
            </a:r>
            <a:r>
              <a:rPr lang="en-US" dirty="0"/>
              <a:t>, and even apply it to different types of engines to improve generalization.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B1FD-1EFE-3B70-354D-ED18DEDDA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966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7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8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3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5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6.jpe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91" t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8224" y="1545549"/>
            <a:ext cx="5892601" cy="3928532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Predictive Health Monitoring of Engine Classification Using Machine Learning and NASA C-MAPSS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2257" y="5499993"/>
            <a:ext cx="4513792" cy="914401"/>
          </a:xfrm>
        </p:spPr>
        <p:txBody>
          <a:bodyPr>
            <a:normAutofit/>
          </a:bodyPr>
          <a:lstStyle/>
          <a:p>
            <a:r>
              <a:rPr lang="en-US" dirty="0"/>
              <a:t>By: Kyle Keshmeshian</a:t>
            </a:r>
          </a:p>
        </p:txBody>
      </p:sp>
      <p:pic>
        <p:nvPicPr>
          <p:cNvPr id="102" name="Audio 101">
            <a:hlinkClick r:id="" action="ppaction://media"/>
            <a:extLst>
              <a:ext uri="{FF2B5EF4-FFF2-40B4-BE49-F238E27FC236}">
                <a16:creationId xmlns:a16="http://schemas.microsoft.com/office/drawing/2014/main" id="{C62CDE72-D011-B228-8BED-2BBD7C9ADD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69"/>
    </mc:Choice>
    <mc:Fallback xmlns="">
      <p:transition spd="slow" advTm="8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2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F9B4B59-2347-3953-B858-62B16E8A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71897-5BDC-0320-7C95-2F95004691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893" r="7463" b="-1"/>
          <a:stretch/>
        </p:blipFill>
        <p:spPr>
          <a:xfrm>
            <a:off x="1019517" y="643463"/>
            <a:ext cx="6145771" cy="558035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A89E8-E9F0-9B88-489C-DA4F09884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5806" y="2251587"/>
            <a:ext cx="3706762" cy="3972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 </a:t>
            </a:r>
            <a:r>
              <a:rPr lang="en-US" b="1"/>
              <a:t>Dataset:</a:t>
            </a:r>
            <a:r>
              <a:rPr lang="en-US"/>
              <a:t> NASA </a:t>
            </a:r>
            <a:r>
              <a:rPr lang="en-US" b="1"/>
              <a:t>C-MAPSS</a:t>
            </a:r>
            <a:r>
              <a:rPr lang="en-US"/>
              <a:t> (Turbofan engine degradation simulation)</a:t>
            </a:r>
          </a:p>
          <a:p>
            <a:pPr>
              <a:buFont typeface="Arial"/>
              <a:buChar char="•"/>
            </a:pPr>
            <a:r>
              <a:rPr lang="en-US"/>
              <a:t> Goal: Classify aircraft engine status as </a:t>
            </a:r>
            <a:r>
              <a:rPr lang="en-US" b="1"/>
              <a:t>“Normal”</a:t>
            </a:r>
            <a:r>
              <a:rPr lang="en-US"/>
              <a:t> or </a:t>
            </a:r>
            <a:r>
              <a:rPr lang="en-US" b="1"/>
              <a:t>“At Risk”</a:t>
            </a:r>
          </a:p>
          <a:p>
            <a:pPr>
              <a:buFont typeface="Arial"/>
              <a:buChar char="•"/>
            </a:pPr>
            <a:r>
              <a:rPr lang="en-US" b="1"/>
              <a:t> Target Variable:</a:t>
            </a:r>
            <a:r>
              <a:rPr lang="en-US"/>
              <a:t> Based on </a:t>
            </a:r>
            <a:r>
              <a:rPr lang="en-US" b="1"/>
              <a:t>Remaining Useful Life (RUL)</a:t>
            </a:r>
          </a:p>
          <a:p>
            <a:pPr lvl="1">
              <a:buFont typeface="Arial"/>
              <a:buChar char="•"/>
            </a:pPr>
            <a:r>
              <a:rPr lang="en-US" i="1"/>
              <a:t> Status = 1</a:t>
            </a:r>
            <a:r>
              <a:rPr lang="en-US"/>
              <a:t> if RUL ≤ 30 (At Risk)</a:t>
            </a:r>
          </a:p>
          <a:p>
            <a:pPr lvl="1">
              <a:buFont typeface="Arial"/>
              <a:buChar char="•"/>
            </a:pPr>
            <a:r>
              <a:rPr lang="en-US" i="1"/>
              <a:t> Status = 0</a:t>
            </a:r>
            <a:r>
              <a:rPr lang="en-US"/>
              <a:t> if RUL &gt; 30 (Normal)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2ADCEA6C-BAD7-902D-F766-788EE887F9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174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671"/>
    </mc:Choice>
    <mc:Fallback xmlns="">
      <p:transition spd="slow" advTm="55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767B7-D46A-8610-4646-C8BD6E6A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F313CC0-032F-40D3-BA89-242470E9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0095E40-D106-2DB1-E755-68B851050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083" y="609600"/>
            <a:ext cx="3971143" cy="145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2AAD6-7E4A-7DDC-10E2-4690AA8A33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2527" b="-2"/>
          <a:stretch/>
        </p:blipFill>
        <p:spPr>
          <a:xfrm>
            <a:off x="-3665" y="10"/>
            <a:ext cx="3056158" cy="2623343"/>
          </a:xfrm>
          <a:prstGeom prst="rect">
            <a:avLst/>
          </a:prstGeom>
        </p:spPr>
      </p:pic>
      <p:pic>
        <p:nvPicPr>
          <p:cNvPr id="3" name="Picture 2" descr="A collage of graphs&#10;&#10;AI-generated content may be incorrect.">
            <a:extLst>
              <a:ext uri="{FF2B5EF4-FFF2-40B4-BE49-F238E27FC236}">
                <a16:creationId xmlns:a16="http://schemas.microsoft.com/office/drawing/2014/main" id="{E00FFAAF-0668-52C8-CBDC-FBBDC98D813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" r="-4" b="10098"/>
          <a:stretch/>
        </p:blipFill>
        <p:spPr bwMode="auto">
          <a:xfrm>
            <a:off x="3052494" y="975"/>
            <a:ext cx="3056852" cy="2623353"/>
          </a:xfrm>
          <a:prstGeom prst="rect">
            <a:avLst/>
          </a:prstGeom>
          <a:noFill/>
        </p:spPr>
      </p:pic>
      <p:pic>
        <p:nvPicPr>
          <p:cNvPr id="8" name="Picture 7" descr="A diagram of blue and orange dots&#10;&#10;AI-generated content may be incorrect.">
            <a:extLst>
              <a:ext uri="{FF2B5EF4-FFF2-40B4-BE49-F238E27FC236}">
                <a16:creationId xmlns:a16="http://schemas.microsoft.com/office/drawing/2014/main" id="{2EB76167-34B1-831A-6049-3098076234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4" b="6759"/>
          <a:stretch/>
        </p:blipFill>
        <p:spPr bwMode="auto">
          <a:xfrm>
            <a:off x="-1590" y="2624328"/>
            <a:ext cx="6094411" cy="4233672"/>
          </a:xfrm>
          <a:prstGeom prst="rect">
            <a:avLst/>
          </a:prstGeom>
          <a:noFill/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46A44C-DD84-42A8-8633-CAD83CEDD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2821" y="0"/>
            <a:ext cx="680" cy="685800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B1F4F4-74A7-4FA4-AAB9-D8907E7AC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590" y="2624328"/>
            <a:ext cx="6094411" cy="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03AC02-D206-4063-981D-20B6789C6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8737" y="0"/>
            <a:ext cx="13756" cy="2624328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BDDBE-920E-A974-6202-E30629B01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6083" y="2142067"/>
            <a:ext cx="3971143" cy="36491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b="1" dirty="0"/>
              <a:t>20,631 cycles</a:t>
            </a:r>
            <a:r>
              <a:rPr lang="en-US" dirty="0"/>
              <a:t>, 26 features</a:t>
            </a:r>
          </a:p>
          <a:p>
            <a:pPr>
              <a:buFont typeface="Arial"/>
              <a:buChar char="•"/>
            </a:pPr>
            <a:r>
              <a:rPr lang="en-US" dirty="0"/>
              <a:t> No missing values</a:t>
            </a:r>
          </a:p>
          <a:p>
            <a:pPr>
              <a:buFont typeface="Arial"/>
              <a:buChar char="•"/>
            </a:pPr>
            <a:r>
              <a:rPr lang="en-US" dirty="0"/>
              <a:t> Engine Status labeled using RUL</a:t>
            </a:r>
          </a:p>
          <a:p>
            <a:pPr>
              <a:buFont typeface="Arial"/>
              <a:buChar char="•"/>
            </a:pPr>
            <a:r>
              <a:rPr lang="en-US" dirty="0"/>
              <a:t> Removed low-impact features: low correlation &amp; low variance </a:t>
            </a:r>
          </a:p>
          <a:p>
            <a:pPr>
              <a:buFont typeface="Arial"/>
              <a:buChar char="•"/>
            </a:pPr>
            <a:r>
              <a:rPr lang="en-US" dirty="0"/>
              <a:t> Applied </a:t>
            </a:r>
            <a:r>
              <a:rPr lang="en-US" b="1" dirty="0"/>
              <a:t>standardization</a:t>
            </a:r>
            <a:r>
              <a:rPr lang="en-US" dirty="0"/>
              <a:t> to all features</a:t>
            </a:r>
          </a:p>
          <a:p>
            <a:pPr>
              <a:buFont typeface="Arial"/>
              <a:buChar char="•"/>
            </a:pPr>
            <a:r>
              <a:rPr lang="en-US" dirty="0"/>
              <a:t> Used </a:t>
            </a:r>
            <a:r>
              <a:rPr lang="en-US" b="1" dirty="0"/>
              <a:t>t-SNE</a:t>
            </a:r>
            <a:r>
              <a:rPr lang="en-US" dirty="0"/>
              <a:t> to visualize separability of classes</a:t>
            </a:r>
          </a:p>
          <a:p>
            <a:pPr>
              <a:buFont typeface="Arial"/>
              <a:buChar char="•"/>
            </a:pPr>
            <a:r>
              <a:rPr lang="en-US" b="1" dirty="0"/>
              <a:t> </a:t>
            </a:r>
            <a:r>
              <a:rPr lang="en-US" dirty="0"/>
              <a:t>Class imbalance: </a:t>
            </a:r>
          </a:p>
          <a:p>
            <a:pPr lvl="1">
              <a:buFont typeface="Arial"/>
              <a:buChar char="•"/>
            </a:pPr>
            <a:r>
              <a:rPr lang="en-US" b="1" dirty="0"/>
              <a:t>85% Normal</a:t>
            </a:r>
            <a:r>
              <a:rPr lang="en-US" dirty="0"/>
              <a:t>, </a:t>
            </a:r>
            <a:r>
              <a:rPr lang="en-US" b="1" dirty="0"/>
              <a:t>15% At Risk</a:t>
            </a:r>
          </a:p>
        </p:txBody>
      </p:sp>
      <p:pic>
        <p:nvPicPr>
          <p:cNvPr id="36" name="Audio 35">
            <a:hlinkClick r:id="" action="ppaction://media"/>
            <a:extLst>
              <a:ext uri="{FF2B5EF4-FFF2-40B4-BE49-F238E27FC236}">
                <a16:creationId xmlns:a16="http://schemas.microsoft.com/office/drawing/2014/main" id="{083A7F2F-EA2E-64E8-F18F-1756F2C58E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3569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73"/>
    </mc:Choice>
    <mc:Fallback xmlns="">
      <p:transition spd="slow" advTm="39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1F2D8-008F-4D62-0BB4-97763D74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3ED72BE-2F78-4DD7-B0A1-DCD0503B1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E731D17-0F75-777D-4B8F-95E213E0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278" y="1030288"/>
            <a:ext cx="4099947" cy="10355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Feature engineering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E40413-DAD3-4AA7-ACB7-7990057D9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660" y="626261"/>
            <a:ext cx="5433751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A6D4FFB-0720-4309-929E-0CCD2E560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660" y="3515716"/>
            <a:ext cx="5433751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F70CCC2B-F73B-7E19-0B98-D14374ED7F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6146" y="733254"/>
            <a:ext cx="4162778" cy="2497667"/>
          </a:xfrm>
          <a:prstGeom prst="roundRect">
            <a:avLst>
              <a:gd name="adj" fmla="val 5453"/>
            </a:avLst>
          </a:prstGeom>
          <a:noFill/>
          <a:ln w="50800" cap="sq" cmpd="dbl">
            <a:noFill/>
            <a:miter lim="800000"/>
          </a:ln>
          <a:effectLst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B5445-17CE-311E-1C66-51A225DF8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7278" y="2142067"/>
            <a:ext cx="4099947" cy="36491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 Created </a:t>
            </a:r>
            <a:r>
              <a:rPr lang="en-US" b="1" dirty="0"/>
              <a:t>13 new features</a:t>
            </a:r>
            <a:r>
              <a:rPr lang="en-US" dirty="0"/>
              <a:t> from original data</a:t>
            </a:r>
          </a:p>
          <a:p>
            <a:pPr>
              <a:buFont typeface="Arial"/>
              <a:buChar char="•"/>
            </a:pPr>
            <a:r>
              <a:rPr lang="en-US" dirty="0"/>
              <a:t> Key engineered features:</a:t>
            </a:r>
          </a:p>
          <a:p>
            <a:pPr lvl="1">
              <a:buFont typeface="Arial"/>
              <a:buChar char="•"/>
            </a:pPr>
            <a:r>
              <a:rPr lang="en-US" dirty="0"/>
              <a:t> sensor_#_avg_of5 – mean of past 5 cycles</a:t>
            </a:r>
          </a:p>
          <a:p>
            <a:pPr lvl="1">
              <a:buFont typeface="Arial"/>
              <a:buChar char="•"/>
            </a:pPr>
            <a:r>
              <a:rPr lang="en-US" dirty="0"/>
              <a:t> </a:t>
            </a:r>
            <a:r>
              <a:rPr lang="en-US" dirty="0" err="1"/>
              <a:t>normalized_cycles</a:t>
            </a:r>
            <a:r>
              <a:rPr lang="en-US" dirty="0"/>
              <a:t> – cycle number relative to engine lifespan</a:t>
            </a:r>
          </a:p>
          <a:p>
            <a:pPr>
              <a:buFont typeface="Arial"/>
              <a:buChar char="•"/>
            </a:pPr>
            <a:r>
              <a:rPr lang="en-US" dirty="0"/>
              <a:t> Dropped noisy features</a:t>
            </a:r>
          </a:p>
          <a:p>
            <a:pPr>
              <a:buFont typeface="Arial"/>
              <a:buChar char="•"/>
            </a:pPr>
            <a:r>
              <a:rPr lang="en-US" dirty="0"/>
              <a:t> Selected </a:t>
            </a:r>
            <a:r>
              <a:rPr lang="en-US" b="1" dirty="0"/>
              <a:t>top 15 features</a:t>
            </a:r>
            <a:r>
              <a:rPr lang="en-US" dirty="0"/>
              <a:t> using </a:t>
            </a:r>
            <a:r>
              <a:rPr lang="en-US" b="1" dirty="0"/>
              <a:t>mutual information</a:t>
            </a:r>
            <a:endParaRPr lang="en-US" dirty="0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D1D2AD-A4D0-5466-56F8-9785408845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760" y="3627079"/>
            <a:ext cx="2755759" cy="2497667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B5318B69-15C8-8822-C045-14FF960C27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406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57"/>
    </mc:Choice>
    <mc:Fallback xmlns="">
      <p:transition spd="slow" advTm="573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EBE02-E3D9-982D-FD42-9F9BE2A9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E3FC1144-BD64-4C61-ACB8-497711C41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5B9C048-7597-7F5C-997C-9038315C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92" y="609600"/>
            <a:ext cx="5550334" cy="145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Model Comparison</a:t>
            </a:r>
          </a:p>
        </p:txBody>
      </p:sp>
      <p:pic>
        <p:nvPicPr>
          <p:cNvPr id="10" name="Picture 9" descr="A graph of a curve&#10;&#10;AI-generated content may be incorrect.">
            <a:extLst>
              <a:ext uri="{FF2B5EF4-FFF2-40B4-BE49-F238E27FC236}">
                <a16:creationId xmlns:a16="http://schemas.microsoft.com/office/drawing/2014/main" id="{95E66873-26FC-40D4-7C5D-F4AEC19000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" b="-1"/>
          <a:stretch/>
        </p:blipFill>
        <p:spPr bwMode="auto">
          <a:xfrm>
            <a:off x="20" y="1"/>
            <a:ext cx="4635988" cy="3429000"/>
          </a:xfrm>
          <a:prstGeom prst="rect">
            <a:avLst/>
          </a:prstGeom>
          <a:noFill/>
        </p:spPr>
      </p:pic>
      <p:pic>
        <p:nvPicPr>
          <p:cNvPr id="9" name="Picture 8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57C85F74-9589-7073-5C93-629C623BE5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"/>
          <a:stretch/>
        </p:blipFill>
        <p:spPr bwMode="auto">
          <a:xfrm>
            <a:off x="20" y="3429001"/>
            <a:ext cx="4635988" cy="3429974"/>
          </a:xfrm>
          <a:prstGeom prst="rect">
            <a:avLst/>
          </a:prstGeom>
          <a:noFill/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E57998-7D20-4BE8-9019-4A4122CE3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590" y="3429000"/>
            <a:ext cx="4637598" cy="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4AD2C-87B7-F2B1-929E-F9780F647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6892" y="2142067"/>
            <a:ext cx="5550334" cy="3649133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en-US" sz="2800" dirty="0"/>
              <a:t> Models tested: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 Logistic Regression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 </a:t>
            </a:r>
            <a:r>
              <a:rPr lang="en-US" sz="1800" dirty="0" err="1"/>
              <a:t>XGBoost</a:t>
            </a:r>
            <a:endParaRPr lang="en-US" sz="1800" dirty="0"/>
          </a:p>
          <a:p>
            <a:pPr lvl="1">
              <a:buFont typeface="Arial"/>
              <a:buChar char="•"/>
            </a:pPr>
            <a:r>
              <a:rPr lang="en-US" sz="1800" dirty="0"/>
              <a:t> Random Forest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 Multi Layer Perceptron (MLP)</a:t>
            </a:r>
          </a:p>
          <a:p>
            <a:pPr>
              <a:buFont typeface="Arial"/>
              <a:buChar char="•"/>
            </a:pPr>
            <a:r>
              <a:rPr lang="en-US" sz="2800" dirty="0"/>
              <a:t> Tuned Random Forest: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 Recall: 0.961 (with 3.9% FNs)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 AUC: 0.995</a:t>
            </a:r>
          </a:p>
          <a:p>
            <a:pPr>
              <a:buFont typeface="Arial"/>
              <a:buChar char="•"/>
            </a:pPr>
            <a:r>
              <a:rPr lang="en-US" sz="2800" dirty="0"/>
              <a:t>  Evaluation focused on Recall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EC01BF1-FEAA-4AF6-96A5-24556C1F6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096" y="0"/>
            <a:ext cx="680" cy="685800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EC61583C-7B43-1391-623F-70CE8339D0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2292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85"/>
    </mc:Choice>
    <mc:Fallback xmlns="">
      <p:transition spd="slow" advTm="46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5B1BC-A4C2-76A0-76FE-DBE9AF02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" name="Picture 1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B1003AF4-4504-CAAA-8954-C6F661C60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8" r="3771" b="-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0C8B7D16-051E-4562-B872-ABF369C45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9" name="Freeform 5">
            <a:extLst>
              <a:ext uri="{FF2B5EF4-FFF2-40B4-BE49-F238E27FC236}">
                <a16:creationId xmlns:a16="http://schemas.microsoft.com/office/drawing/2014/main" id="{ED10CF64-F588-4794-80E9-12CBA178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16466" y="-18309"/>
            <a:ext cx="11159068" cy="6894618"/>
          </a:xfrm>
          <a:custGeom>
            <a:avLst/>
            <a:gdLst>
              <a:gd name="T0" fmla="*/ 2331 w 2331"/>
              <a:gd name="T1" fmla="*/ 721 h 1440"/>
              <a:gd name="T2" fmla="*/ 2082 w 2331"/>
              <a:gd name="T3" fmla="*/ 0 h 1440"/>
              <a:gd name="T4" fmla="*/ 249 w 2331"/>
              <a:gd name="T5" fmla="*/ 0 h 1440"/>
              <a:gd name="T6" fmla="*/ 0 w 2331"/>
              <a:gd name="T7" fmla="*/ 721 h 1440"/>
              <a:gd name="T8" fmla="*/ 248 w 2331"/>
              <a:gd name="T9" fmla="*/ 1440 h 1440"/>
              <a:gd name="T10" fmla="*/ 2083 w 2331"/>
              <a:gd name="T11" fmla="*/ 1440 h 1440"/>
              <a:gd name="T12" fmla="*/ 2331 w 2331"/>
              <a:gd name="T13" fmla="*/ 721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1" h="1440">
                <a:moveTo>
                  <a:pt x="2331" y="721"/>
                </a:moveTo>
                <a:cubicBezTo>
                  <a:pt x="2331" y="449"/>
                  <a:pt x="2238" y="198"/>
                  <a:pt x="2082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93" y="198"/>
                  <a:pt x="0" y="449"/>
                  <a:pt x="0" y="721"/>
                </a:cubicBezTo>
                <a:cubicBezTo>
                  <a:pt x="0" y="992"/>
                  <a:pt x="92" y="1242"/>
                  <a:pt x="248" y="1440"/>
                </a:cubicBezTo>
                <a:cubicBezTo>
                  <a:pt x="2083" y="1440"/>
                  <a:pt x="2083" y="1440"/>
                  <a:pt x="2083" y="1440"/>
                </a:cubicBezTo>
                <a:cubicBezTo>
                  <a:pt x="2239" y="1242"/>
                  <a:pt x="2331" y="992"/>
                  <a:pt x="2331" y="72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E811B6-867F-2351-330E-09CCA0DB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422565"/>
            <a:ext cx="9437159" cy="12276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/>
              <a:t>Conclusion, Key takeaways, Limits, &amp; Future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8521E-1457-F205-5E1B-90785159B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4774" y="1841736"/>
            <a:ext cx="9437159" cy="378460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Final Model: Tuned Random Forest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Recall: 0.961 (with 3.9% FNs)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AUC: 0.995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 Key success factors: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Feature engineering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Focus on recall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Limitations: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Hard to Interpret without sensor labels 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Class imbalance (15% at risk)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Future Work: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Use labeled sensor data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 Test on other types of engines</a:t>
            </a:r>
          </a:p>
          <a:p>
            <a:pPr lvl="1">
              <a:lnSpc>
                <a:spcPct val="90000"/>
              </a:lnSpc>
              <a:buFont typeface="Arial"/>
              <a:buChar char="•"/>
            </a:pPr>
            <a:endParaRPr lang="en-US" sz="300" dirty="0"/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9059FE05-1BA6-3976-5C22-CB29702F43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9689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14"/>
    </mc:Choice>
    <mc:Fallback xmlns="">
      <p:transition spd="slow" advTm="65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91" t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1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84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333" y="2032000"/>
            <a:ext cx="4513792" cy="2819398"/>
          </a:xfrm>
        </p:spPr>
        <p:txBody>
          <a:bodyPr>
            <a:normAutofit/>
          </a:bodyPr>
          <a:lstStyle/>
          <a:p>
            <a:r>
              <a:rPr lang="en-US" dirty="0"/>
              <a:t>Thank You for listening!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41A822A6-0976-526D-C83B-F5A604377C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1"/>
    </mc:Choice>
    <mc:Fallback xmlns="">
      <p:transition spd="slow" advTm="46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163</TotalTime>
  <Words>1053</Words>
  <Application>Microsoft Office PowerPoint</Application>
  <PresentationFormat>Widescreen</PresentationFormat>
  <Paragraphs>84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Predictive Health Monitoring of Engine Classification Using Machine Learning and NASA C-MAPSS Data</vt:lpstr>
      <vt:lpstr>Introduction</vt:lpstr>
      <vt:lpstr>Exploratory Data Analysis</vt:lpstr>
      <vt:lpstr>Feature engineering</vt:lpstr>
      <vt:lpstr>Model Comparison</vt:lpstr>
      <vt:lpstr>Conclusion, Key takeaways, Limits, &amp; Future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Keshmeshian</dc:creator>
  <cp:lastModifiedBy>Kyle Keshmeshian</cp:lastModifiedBy>
  <cp:revision>1</cp:revision>
  <dcterms:created xsi:type="dcterms:W3CDTF">2025-05-13T02:15:31Z</dcterms:created>
  <dcterms:modified xsi:type="dcterms:W3CDTF">2025-05-14T00:34:50Z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